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0000000-0000-0000-0000-00000000000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  <p:gridSpacing cx="780288" cy="78028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iCaRL_codex 关键实验递进</a:t>
            </a:r>
            <a:endParaRPr lang="zh-CN" sz="2800"/>
          </a:p>
        </p:txBody>
      </p:sp>
      <p:sp>
        <p:nvSpPr>
          <p:cNvPr id="3" name="Divider 1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Subtitle 1"/>
          <p:cNvSpPr txBox="1"/>
          <p:nvPr/>
        </p:nvSpPr>
        <p:spPr>
          <a:xfrm>
            <a:off x="640080" y="1325880"/>
            <a:ext cx="10607040" cy="914400"/>
          </a:xfrm>
          <a:noFill/>
        </p:spPr>
        <p:txBody>
          <a:bodyPr wrap="square" rtlCol="0"/>
          <a:lstStyle/>
          <a:p>
            <a:pPr lvl="0"/>
            <a:r>
              <a:rPr lang="zh-CN" sz="1800"/>
              <a:t>仅整理 3 seeds + 30 epochs 的 full 结果</a:t>
            </a:r>
            <a:endParaRPr lang="zh-CN" sz="1800"/>
          </a:p>
          <a:p>
            <a:pPr lvl="0"/>
            <a:r>
              <a:rPr lang="zh-CN" sz="1800"/>
              <a:t>场景：跨被试类增量学习（AB -&gt; BC -&gt; CD）</a:t>
            </a:r>
            <a:endParaRPr lang="zh-CN" sz="1800"/>
          </a:p>
          <a:p>
            <a:pPr lvl="0"/>
            <a:r>
              <a:rPr lang="zh-CN" sz="1800"/>
              <a:t>日期：2026-03-17</a:t>
            </a:r>
            <a:endParaRPr lang="zh-CN" sz="1800"/>
          </a:p>
        </p:txBody>
      </p:sp>
      <p:sp>
        <p:nvSpPr>
          <p:cNvPr id="5" name="Body 1"/>
          <p:cNvSpPr txBox="1"/>
          <p:nvPr/>
        </p:nvSpPr>
        <p:spPr>
          <a:xfrm>
            <a:off x="731520" y="214884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目标：按“加了什么方法 -&gt; 指标变成多少”整理成论文可用版本</a:t>
            </a:r>
            <a:endParaRPr lang="zh-CN" sz="2000"/>
          </a:p>
          <a:p>
            <a:pPr lvl="0"/>
            <a:r>
              <a:rPr lang="zh-CN" sz="2000"/>
              <a:t>• 指标顺序统一为：task1 / task2 / task3</a:t>
            </a:r>
            <a:endParaRPr lang="zh-CN" sz="2000"/>
          </a:p>
          <a:p>
            <a:pPr lvl="0"/>
            <a:r>
              <a:rPr lang="zh-CN" sz="2000"/>
              <a:t>• 当前 best full：84.18 / 60.75 / 49.36</a:t>
            </a:r>
            <a:endParaRPr lang="zh-CN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任务设定</a:t>
            </a:r>
            <a:endParaRPr lang="zh-CN" sz="2800"/>
          </a:p>
        </p:txBody>
      </p:sp>
      <p:sp>
        <p:nvSpPr>
          <p:cNvPr id="3" name="Divider 2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2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stage1：训练被试 1,2,3 的 A,B；测试 AB</a:t>
            </a:r>
            <a:endParaRPr lang="zh-CN" sz="2000"/>
          </a:p>
          <a:p>
            <a:pPr lvl="0"/>
            <a:r>
              <a:rPr lang="zh-CN" sz="2000"/>
              <a:t>• stage2：训练被试 4,5,6 的 B,C；测试 ABC</a:t>
            </a:r>
            <a:endParaRPr lang="zh-CN" sz="2000"/>
          </a:p>
          <a:p>
            <a:pPr lvl="0"/>
            <a:r>
              <a:rPr lang="zh-CN" sz="2000"/>
              <a:t>• stage3：训练被试 7,8,9 的 C,D；测试 ABCD</a:t>
            </a:r>
            <a:endParaRPr lang="zh-CN" sz="2000"/>
          </a:p>
          <a:p>
            <a:pPr lvl="0"/>
            <a:r>
              <a:rPr lang="zh-CN" sz="2000"/>
              <a:t>• 类别映射：A=左手，B=右手，C=双脚，D=舌头</a:t>
            </a:r>
            <a:endParaRPr lang="zh-CN" sz="2000"/>
          </a:p>
          <a:p>
            <a:pPr lvl="0"/>
            <a:r>
              <a:rPr lang="zh-CN" sz="2000"/>
              <a:t>• 主目标：提高 task2、task3，尤其 task3 旧类保持</a:t>
            </a:r>
            <a:endParaRPr 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递进主线总览</a:t>
            </a:r>
            <a:endParaRPr lang="zh-CN" sz="2800"/>
          </a:p>
        </p:txBody>
      </p:sp>
      <p:sp>
        <p:nvSpPr>
          <p:cNvPr id="3" name="Divider 3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3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baseline -&gt; 去掉 contrastive -&gt; adapter -&gt; LwF/replaymix2/oldweight</a:t>
            </a:r>
            <a:endParaRPr lang="zh-CN" sz="2000"/>
          </a:p>
          <a:p>
            <a:pPr lvl="0"/>
            <a:r>
              <a:rPr lang="zh-CN" sz="2000"/>
              <a:t>• -&gt; normalized NME -&gt; 更合理的 stage epochs</a:t>
            </a:r>
            <a:endParaRPr lang="zh-CN" sz="2000"/>
          </a:p>
          <a:p>
            <a:pPr lvl="0"/>
            <a:r>
              <a:rPr lang="zh-CN" sz="2000"/>
              <a:t>• -&gt; stage3 feature distill + task-affine</a:t>
            </a:r>
            <a:endParaRPr lang="zh-CN" sz="2000"/>
          </a:p>
          <a:p>
            <a:pPr lvl="0"/>
            <a:r>
              <a:rPr lang="zh-CN" sz="2000"/>
              <a:t>• -&gt; hybrid NME+logits -&gt; new_only prototype blend -&gt; affine2 微调</a:t>
            </a:r>
            <a:endParaRPr lang="zh-CN" sz="2000"/>
          </a:p>
          <a:p>
            <a:pPr lvl="0"/>
            <a:r>
              <a:rPr lang="zh-CN" sz="2000"/>
              <a:t>• 结论：真正的大拐点是 normalized NME、hybrid、new_only prototype blend</a:t>
            </a:r>
            <a:endParaRPr lang="zh-CN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0. 原始基线</a:t>
            </a:r>
            <a:endParaRPr lang="zh-CN" sz="2800"/>
          </a:p>
        </p:txBody>
      </p:sp>
      <p:sp>
        <p:nvSpPr>
          <p:cNvPr id="3" name="Divider 4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4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运行名：baseline_confirm</a:t>
            </a:r>
            <a:endParaRPr lang="zh-CN" sz="2000"/>
          </a:p>
          <a:p>
            <a:pPr lvl="0"/>
            <a:r>
              <a:rPr lang="zh-CN" sz="2000"/>
              <a:t>• 方法：原始 iCaRL 基线</a:t>
            </a:r>
            <a:endParaRPr lang="zh-CN" sz="2000"/>
          </a:p>
          <a:p>
            <a:pPr lvl="0"/>
            <a:r>
              <a:rPr lang="zh-CN" sz="2000"/>
              <a:t>• 结果：85.80 / 59.85 / 37.23</a:t>
            </a:r>
            <a:endParaRPr lang="zh-CN" sz="2000"/>
          </a:p>
          <a:p>
            <a:pPr lvl="0"/>
            <a:r>
              <a:rPr lang="zh-CN" sz="2000"/>
              <a:t>• 结论：作为全部改进的起点，task3 明显偏低</a:t>
            </a:r>
            <a:endParaRPr 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1. 去掉对比损失</a:t>
            </a:r>
            <a:endParaRPr lang="zh-CN" sz="2800"/>
          </a:p>
        </p:txBody>
      </p:sp>
      <p:sp>
        <p:nvSpPr>
          <p:cNvPr id="3" name="Divider 5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5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运行名：no_contrastive_confirm</a:t>
            </a:r>
            <a:endParaRPr lang="zh-CN" sz="2000"/>
          </a:p>
          <a:p>
            <a:pPr lvl="0"/>
            <a:r>
              <a:rPr lang="zh-CN" sz="2000"/>
              <a:t>• 添加方法：去掉 supervised contrastive loss</a:t>
            </a:r>
            <a:endParaRPr lang="zh-CN" sz="2000"/>
          </a:p>
          <a:p>
            <a:pPr lvl="0"/>
            <a:r>
              <a:rPr lang="zh-CN" sz="2000"/>
              <a:t>• 结果：85.80 / 60.78 / 40.24</a:t>
            </a:r>
            <a:endParaRPr lang="zh-CN" sz="2000"/>
          </a:p>
          <a:p>
            <a:pPr lvl="0"/>
            <a:r>
              <a:rPr lang="zh-CN" sz="2000"/>
              <a:t>• 相对基线：task2 +0.93，task3 +3.01</a:t>
            </a:r>
            <a:endParaRPr lang="zh-CN" sz="2000"/>
          </a:p>
          <a:p>
            <a:pPr lvl="0"/>
            <a:r>
              <a:rPr lang="zh-CN" sz="2000"/>
              <a:t>• 结论：当前实现里的 contrastive loss 是负收益</a:t>
            </a:r>
            <a:endParaRPr 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2. 加入轻量 Adapter</a:t>
            </a:r>
            <a:endParaRPr lang="zh-CN" sz="2800"/>
          </a:p>
        </p:txBody>
      </p:sp>
      <p:sp>
        <p:nvSpPr>
          <p:cNvPr id="3" name="Divider 6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6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运行名：no_contrastive_adapter16_s2_confirm</a:t>
            </a:r>
            <a:endParaRPr lang="zh-CN" sz="2000"/>
          </a:p>
          <a:p>
            <a:pPr lvl="0"/>
            <a:r>
              <a:rPr lang="zh-CN" sz="2000"/>
              <a:t>• 添加方法：embedding 后 task adapter(dim=16)，从 stage2 开始启用</a:t>
            </a:r>
            <a:endParaRPr lang="zh-CN" sz="2000"/>
          </a:p>
          <a:p>
            <a:pPr lvl="0"/>
            <a:r>
              <a:rPr lang="zh-CN" sz="2000"/>
              <a:t>• 结果：85.34 / 61.52 / 41.34</a:t>
            </a:r>
            <a:endParaRPr lang="zh-CN" sz="2000"/>
          </a:p>
          <a:p>
            <a:pPr lvl="0"/>
            <a:r>
              <a:rPr lang="zh-CN" sz="2000"/>
              <a:t>• 结论：轻量 PEFT 对后续阶段有帮助</a:t>
            </a:r>
            <a:endParaRPr lang="zh-CN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3. 引入 LwF</a:t>
            </a:r>
            <a:endParaRPr lang="zh-CN" sz="2800"/>
          </a:p>
        </p:txBody>
      </p:sp>
      <p:sp>
        <p:nvSpPr>
          <p:cNvPr id="3" name="Divider 7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7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运行名：lwf015_replaymix2_adapter16_confirm</a:t>
            </a:r>
            <a:endParaRPr lang="zh-CN" sz="2000"/>
          </a:p>
          <a:p>
            <a:pPr lvl="0"/>
            <a:r>
              <a:rPr lang="zh-CN" sz="2000"/>
              <a:t>• 添加方法：LwF + replaymix2</a:t>
            </a:r>
            <a:endParaRPr lang="zh-CN" sz="2000"/>
          </a:p>
          <a:p>
            <a:pPr lvl="0"/>
            <a:r>
              <a:rPr lang="zh-CN" sz="2000"/>
              <a:t>• 结果：85.73 / 58.90 / 41.56</a:t>
            </a:r>
            <a:endParaRPr lang="zh-CN" sz="2000"/>
          </a:p>
          <a:p>
            <a:pPr lvl="0"/>
            <a:r>
              <a:rPr lang="zh-CN" sz="2000"/>
              <a:t>• 结论：task3 继续涨，但 task2 先掉，说明旧类保持和新类学习开始冲突</a:t>
            </a:r>
            <a:endParaRPr lang="zh-CN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4. 强化旧类权重</a:t>
            </a:r>
            <a:endParaRPr lang="zh-CN" sz="2800"/>
          </a:p>
        </p:txBody>
      </p:sp>
      <p:sp>
        <p:nvSpPr>
          <p:cNvPr id="3" name="Divider 8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8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运行名：lwf015_replaymix2_adapter16_mem36_oldweight25_confirm</a:t>
            </a:r>
            <a:endParaRPr lang="zh-CN" sz="2000"/>
          </a:p>
          <a:p>
            <a:pPr lvl="0"/>
            <a:r>
              <a:rPr lang="zh-CN" sz="2000"/>
              <a:t>• 添加方法：memory=36 + oldweight=2.5</a:t>
            </a:r>
            <a:endParaRPr lang="zh-CN" sz="2000"/>
          </a:p>
          <a:p>
            <a:pPr lvl="0"/>
            <a:r>
              <a:rPr lang="zh-CN" sz="2000"/>
              <a:t>• 结果：85.73 / 58.49 / 42.72</a:t>
            </a:r>
            <a:endParaRPr lang="zh-CN" sz="2000"/>
          </a:p>
          <a:p>
            <a:pPr lvl="0"/>
            <a:r>
              <a:rPr lang="zh-CN" sz="2000"/>
              <a:t>• 结论：更偏向保护老类后，task3 继续提升</a:t>
            </a:r>
            <a:endParaRPr lang="zh-CN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5. normalized NME</a:t>
            </a:r>
            <a:endParaRPr lang="zh-CN" sz="2800"/>
          </a:p>
        </p:txBody>
      </p:sp>
      <p:sp>
        <p:nvSpPr>
          <p:cNvPr id="3" name="Divider 9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9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运行名：lwf015_normnme_adapter16_mem36_oldweight25_confirm</a:t>
            </a:r>
            <a:endParaRPr lang="zh-CN" sz="2000"/>
          </a:p>
          <a:p>
            <a:pPr lvl="0"/>
            <a:r>
              <a:rPr lang="zh-CN" sz="2000"/>
              <a:t>• 添加方法：normalized NME</a:t>
            </a:r>
            <a:endParaRPr lang="zh-CN" sz="2000"/>
          </a:p>
          <a:p>
            <a:pPr lvl="0"/>
            <a:r>
              <a:rPr lang="zh-CN" sz="2000"/>
              <a:t>• 结果：86.11 / 59.46 / 44.85</a:t>
            </a:r>
            <a:endParaRPr lang="zh-CN" sz="2000"/>
          </a:p>
          <a:p>
            <a:pPr lvl="0"/>
            <a:r>
              <a:rPr lang="zh-CN" sz="2000"/>
              <a:t>• 结论：一个大拐点，说明原型几何修正非常关键</a:t>
            </a:r>
            <a:endParaRPr lang="zh-CN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6. 分阶段训练轮数</a:t>
            </a:r>
            <a:endParaRPr lang="zh-CN" sz="2800"/>
          </a:p>
        </p:txBody>
      </p:sp>
      <p:sp>
        <p:nvSpPr>
          <p:cNvPr id="3" name="Divider 10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0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运行名：lwf015_normnme_adapter16_mem36_oldweight25_stage101214_confirm</a:t>
            </a:r>
            <a:endParaRPr lang="zh-CN" sz="2000"/>
          </a:p>
          <a:p>
            <a:pPr lvl="0"/>
            <a:r>
              <a:rPr lang="zh-CN" sz="2000"/>
              <a:t>• 添加方法：stage epochs 调整为 10,12,14</a:t>
            </a:r>
            <a:endParaRPr lang="zh-CN" sz="2000"/>
          </a:p>
          <a:p>
            <a:pPr lvl="0"/>
            <a:r>
              <a:rPr lang="zh-CN" sz="2000"/>
              <a:t>• 结果：84.18 / 60.62 / 46.99</a:t>
            </a:r>
            <a:endParaRPr lang="zh-CN" sz="2000"/>
          </a:p>
          <a:p>
            <a:pPr lvl="0"/>
            <a:r>
              <a:rPr lang="zh-CN" sz="2000"/>
              <a:t>• 结论：后两阶段更强正则/更长训练明显有效</a:t>
            </a:r>
            <a:endParaRPr lang="zh-CN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7. oldweight 精修</a:t>
            </a:r>
            <a:endParaRPr lang="zh-CN" sz="2800"/>
          </a:p>
        </p:txBody>
      </p:sp>
      <p:sp>
        <p:nvSpPr>
          <p:cNvPr id="3" name="Divider 11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1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运行名：lwf015_normnme_adapter16_mem36_oldweight30_stage101212_confirm</a:t>
            </a:r>
            <a:endParaRPr lang="zh-CN" sz="2000"/>
          </a:p>
          <a:p>
            <a:pPr lvl="0"/>
            <a:r>
              <a:rPr lang="zh-CN" sz="2000"/>
              <a:t>• 添加方法：oldweight 调到 3.0，schedule 调到 10,12,12</a:t>
            </a:r>
            <a:endParaRPr lang="zh-CN" sz="2000"/>
          </a:p>
          <a:p>
            <a:pPr lvl="0"/>
            <a:r>
              <a:rPr lang="zh-CN" sz="2000"/>
              <a:t>• 结果：84.18 / 60.54 / 47.79</a:t>
            </a:r>
            <a:endParaRPr lang="zh-CN" sz="2000"/>
          </a:p>
          <a:p>
            <a:pPr lvl="0"/>
            <a:r>
              <a:rPr lang="zh-CN" sz="2000"/>
              <a:t>• 结论：非 hybrid 主线基本成型</a:t>
            </a:r>
            <a:endParaRPr lang="zh-CN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8. stage3 distill + task-affine</a:t>
            </a:r>
            <a:endParaRPr lang="zh-CN" sz="2800"/>
          </a:p>
        </p:txBody>
      </p:sp>
      <p:sp>
        <p:nvSpPr>
          <p:cNvPr id="3" name="Divider 12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2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运行名：lwf0175T15_normnme_adapter16_mem36_oldweight325_stage101212_stagefd0025_taskaffine_s3_confirm</a:t>
            </a:r>
            <a:endParaRPr lang="zh-CN" sz="2000"/>
          </a:p>
          <a:p>
            <a:pPr lvl="0"/>
            <a:r>
              <a:rPr lang="zh-CN" sz="2000"/>
              <a:t>• 添加方法：LwF T=1.5 + stage3 feature distill + task-affine_s3</a:t>
            </a:r>
            <a:endParaRPr lang="zh-CN" sz="2000"/>
          </a:p>
          <a:p>
            <a:pPr lvl="0"/>
            <a:r>
              <a:rPr lang="zh-CN" sz="2000"/>
              <a:t>• 结果：84.18 / 60.86 / 48.29</a:t>
            </a:r>
            <a:endParaRPr lang="zh-CN" sz="2000"/>
          </a:p>
          <a:p>
            <a:pPr lvl="0"/>
            <a:r>
              <a:rPr lang="zh-CN" sz="2000"/>
              <a:t>• 结论：非 hybrid 成熟强线，task3 已到 48+</a:t>
            </a:r>
            <a:endParaRPr lang="zh-CN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9. hybrid NME + logits</a:t>
            </a:r>
            <a:endParaRPr lang="zh-CN" sz="2800"/>
          </a:p>
        </p:txBody>
      </p:sp>
      <p:sp>
        <p:nvSpPr>
          <p:cNvPr id="3" name="Divider 13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3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运行名：lwf0175T15_normnmehybrid_s3old04_adapter16_mem36_oldweight3375_stage101212_stagefd0025_taskaffine_s3_confirm</a:t>
            </a:r>
            <a:endParaRPr lang="zh-CN" sz="2000"/>
          </a:p>
          <a:p>
            <a:pPr lvl="0"/>
            <a:r>
              <a:rPr lang="zh-CN" sz="2000"/>
              <a:t>• 添加方法：stage3-only hybrid NME+logits</a:t>
            </a:r>
            <a:endParaRPr lang="zh-CN" sz="2000"/>
          </a:p>
          <a:p>
            <a:pPr lvl="0"/>
            <a:r>
              <a:rPr lang="zh-CN" sz="2000"/>
              <a:t>• 结果：85.72 / 59.62 / 48.52</a:t>
            </a:r>
            <a:endParaRPr lang="zh-CN" sz="2000"/>
          </a:p>
          <a:p>
            <a:pPr lvl="0"/>
            <a:r>
              <a:rPr lang="zh-CN" sz="2000"/>
              <a:t>• 结论：训练分类器与最终 NME 决策器的错配被部分修复</a:t>
            </a:r>
            <a:endParaRPr lang="zh-CN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4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10. new_only prototype blend</a:t>
            </a:r>
            <a:endParaRPr lang="zh-CN" sz="2800"/>
          </a:p>
        </p:txBody>
      </p:sp>
      <p:sp>
        <p:nvSpPr>
          <p:cNvPr id="3" name="Divider 14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4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运行名：lwf0175T15_normnmehybrid_s3old04_ptblend07s3new_adapter16_mem36_oldweight30_stage101212_stagefd0025_taskaffine_s3_confirm</a:t>
            </a:r>
            <a:endParaRPr lang="zh-CN" sz="2000"/>
          </a:p>
          <a:p>
            <a:pPr lvl="0"/>
            <a:r>
              <a:rPr lang="zh-CN" sz="2000"/>
              <a:t>• 添加方法：stage3-only + new_only prototype blend</a:t>
            </a:r>
            <a:endParaRPr lang="zh-CN" sz="2000"/>
          </a:p>
          <a:p>
            <a:pPr lvl="0"/>
            <a:r>
              <a:rPr lang="zh-CN" sz="2000"/>
              <a:t>• 结果：84.18 / 60.80 / 48.91</a:t>
            </a:r>
            <a:endParaRPr lang="zh-CN" sz="2000"/>
          </a:p>
          <a:p>
            <a:pPr lvl="0"/>
            <a:r>
              <a:rPr lang="zh-CN" sz="2000"/>
              <a:t>• 结论：只修正新增类原型，比全局原型修正更稳</a:t>
            </a:r>
            <a:endParaRPr lang="zh-CN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5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11. affine2</a:t>
            </a:r>
            <a:endParaRPr lang="zh-CN" sz="2800"/>
          </a:p>
        </p:txBody>
      </p:sp>
      <p:sp>
        <p:nvSpPr>
          <p:cNvPr id="3" name="Divider 15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5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运行名：lwf0175T15_normnmehybrid_s3old04_ptblend07s3new_affine2_adapter16_mem36_oldweight30_stage101212_stagefd0025_taskaffine_s3_confirm</a:t>
            </a:r>
            <a:endParaRPr lang="zh-CN" sz="2000"/>
          </a:p>
          <a:p>
            <a:pPr lvl="0"/>
            <a:r>
              <a:rPr lang="zh-CN" sz="2000"/>
              <a:t>• 添加方法：task-affine 从 stage2 开始启用</a:t>
            </a:r>
            <a:endParaRPr lang="zh-CN" sz="2000"/>
          </a:p>
          <a:p>
            <a:pPr lvl="0"/>
            <a:r>
              <a:rPr lang="zh-CN" sz="2000"/>
              <a:t>• 结果：84.18 / 60.80 / 49.04</a:t>
            </a:r>
            <a:endParaRPr lang="zh-CN" sz="2000"/>
          </a:p>
          <a:p>
            <a:pPr lvl="0"/>
            <a:r>
              <a:rPr lang="zh-CN" sz="2000"/>
              <a:t>• 结论：阶段条件化的轻量分布校正继续有效</a:t>
            </a:r>
            <a:endParaRPr lang="zh-CN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6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12. stagefd 与 oldweight 精修</a:t>
            </a:r>
            <a:endParaRPr lang="zh-CN" sz="2800"/>
          </a:p>
        </p:txBody>
      </p:sp>
      <p:sp>
        <p:nvSpPr>
          <p:cNvPr id="3" name="Divider 16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6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运行名：lwf0175T15_normnmehybrid_s3old04_ptblend07s3new_affine2_adapter16_mem36_oldweight3125_stage101212_stagefd003_taskaffine_s3_confirm</a:t>
            </a:r>
            <a:endParaRPr lang="zh-CN" sz="2000"/>
          </a:p>
          <a:p>
            <a:pPr lvl="0"/>
            <a:r>
              <a:rPr lang="zh-CN" sz="2000"/>
              <a:t>• 添加方法：stage3 distill=0.03 + oldweight=3.125</a:t>
            </a:r>
            <a:endParaRPr lang="zh-CN" sz="2000"/>
          </a:p>
          <a:p>
            <a:pPr lvl="0"/>
            <a:r>
              <a:rPr lang="zh-CN" sz="2000"/>
              <a:t>• 结果：84.18 / 60.75 / 49.22</a:t>
            </a:r>
            <a:endParaRPr lang="zh-CN" sz="2000"/>
          </a:p>
          <a:p>
            <a:pPr lvl="0"/>
            <a:r>
              <a:rPr lang="zh-CN" sz="2000"/>
              <a:t>• 结论：稳定进入 49+ 区间</a:t>
            </a:r>
            <a:endParaRPr lang="zh-CN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13. ptblend alpha 精修</a:t>
            </a:r>
            <a:endParaRPr lang="zh-CN" sz="2800"/>
          </a:p>
        </p:txBody>
      </p:sp>
      <p:sp>
        <p:nvSpPr>
          <p:cNvPr id="3" name="Divider 17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7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运行名：lwf0175T15_normnmehybrid_s3old04_ptblend02s3new_affine2_adapter16_mem36_oldweight3125_stage101212_stagefd003_taskaffine_s3_confirm</a:t>
            </a:r>
            <a:endParaRPr lang="zh-CN" sz="2000"/>
          </a:p>
          <a:p>
            <a:pPr lvl="0"/>
            <a:r>
              <a:rPr lang="zh-CN" sz="2000"/>
              <a:t>• 添加方法：将 new_only stage3 ptblend alpha 压到 0.2</a:t>
            </a:r>
            <a:endParaRPr lang="zh-CN" sz="2000"/>
          </a:p>
          <a:p>
            <a:pPr lvl="0"/>
            <a:r>
              <a:rPr lang="zh-CN" sz="2000"/>
              <a:t>• 结果：84.18 / 60.75 / 49.36</a:t>
            </a:r>
            <a:endParaRPr lang="zh-CN" sz="2000"/>
          </a:p>
          <a:p>
            <a:pPr lvl="0"/>
            <a:r>
              <a:rPr lang="zh-CN" sz="2000"/>
              <a:t>• 结论：当前最好 full</a:t>
            </a:r>
            <a:endParaRPr lang="zh-CN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8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典型无效或负收益方法</a:t>
            </a:r>
            <a:endParaRPr lang="zh-CN" sz="2800"/>
          </a:p>
        </p:txBody>
      </p:sp>
      <p:sp>
        <p:nvSpPr>
          <p:cNvPr id="3" name="Divider 18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8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embedding_only_confirm：83.33 / 51.08 / 37.65</a:t>
            </a:r>
            <a:endParaRPr lang="zh-CN" sz="2000"/>
          </a:p>
          <a:p>
            <a:pPr lvl="0"/>
            <a:r>
              <a:rPr lang="zh-CN" sz="2000"/>
              <a:t>• proto_align_confirm：85.80 / 59.59 / 35.65</a:t>
            </a:r>
            <a:endParaRPr lang="zh-CN" sz="2000"/>
          </a:p>
          <a:p>
            <a:pPr lvl="0"/>
            <a:r>
              <a:rPr lang="zh-CN" sz="2000"/>
              <a:t>• task BN full：84.18 / 60.85 / 47.22</a:t>
            </a:r>
            <a:endParaRPr lang="zh-CN" sz="2000"/>
          </a:p>
          <a:p>
            <a:pPr lvl="0"/>
            <a:r>
              <a:rPr lang="zh-CN" sz="2000"/>
              <a:t>• group-bias 主线 full：84.18 / 61.01 / 48.63</a:t>
            </a:r>
            <a:endParaRPr lang="zh-CN" sz="2000"/>
          </a:p>
          <a:p>
            <a:pPr lvl="0"/>
            <a:r>
              <a:rPr lang="zh-CN" sz="2000"/>
              <a:t>• 结论：并不是所有合理方法都能提升 task3</a:t>
            </a:r>
            <a:endParaRPr lang="zh-CN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Replay 相关 full 结果</a:t>
            </a:r>
            <a:endParaRPr lang="zh-CN" sz="2800"/>
          </a:p>
        </p:txBody>
      </p:sp>
      <p:sp>
        <p:nvSpPr>
          <p:cNvPr id="3" name="Divider 19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19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lwf015_replaymix2_adapter16_mem42_oldweight2_confirm：85.73 / 58.36 / 42.95</a:t>
            </a:r>
            <a:endParaRPr lang="zh-CN" sz="2000"/>
          </a:p>
          <a:p>
            <a:pPr lvl="0"/>
            <a:r>
              <a:rPr lang="zh-CN" sz="2000"/>
              <a:t>• hard replay / MIR-lite full：84.18 / 60.75 / 49.36</a:t>
            </a:r>
            <a:endParaRPr lang="zh-CN" sz="2000"/>
          </a:p>
          <a:p>
            <a:pPr lvl="0"/>
            <a:r>
              <a:rPr lang="zh-CN" sz="2000"/>
              <a:t>• alignment-memory replay、DER-lite、kmeans herding 主要停留在 short，没形成正式突破</a:t>
            </a:r>
            <a:endParaRPr lang="zh-CN" sz="2000"/>
          </a:p>
          <a:p>
            <a:pPr lvl="0"/>
            <a:r>
              <a:rPr lang="zh-CN" sz="2000"/>
              <a:t>• 结论：replay 仍重要，但当前最强提升来自 replay 与决策/原型校正的联合</a:t>
            </a:r>
            <a:endParaRPr lang="zh-CN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0"/>
          <p:cNvSpPr txBox="1"/>
          <p:nvPr/>
        </p:nvSpPr>
        <p:spPr>
          <a:xfrm>
            <a:off x="548640" y="365760"/>
            <a:ext cx="10972800" cy="731520"/>
          </a:xfrm>
          <a:noFill/>
        </p:spPr>
        <p:txBody>
          <a:bodyPr wrap="square" rtlCol="0"/>
          <a:lstStyle/>
          <a:p>
            <a:pPr lvl="0"/>
            <a:r>
              <a:rPr lang="zh-CN" sz="2800" b="1"/>
              <a:t>当前结论与后续方向</a:t>
            </a:r>
            <a:endParaRPr lang="zh-CN" sz="2800"/>
          </a:p>
        </p:txBody>
      </p:sp>
      <p:sp>
        <p:nvSpPr>
          <p:cNvPr id="3" name="Divider 20"/>
          <p:cNvSpPr/>
          <p:nvPr/>
        </p:nvSpPr>
        <p:spPr>
          <a:xfrm>
            <a:off x="548640" y="1143000"/>
            <a:ext cx="10972800" cy="36576"/>
          </a:xfrm>
          <a:solidFill>
            <a:srgbClr val="2F6BFF"/>
          </a:solidFill>
        </p:spPr>
        <p:txBody>
          <a:bodyPr/>
          <a:lstStyle/>
          <a:p/>
        </p:txBody>
      </p:sp>
      <p:sp>
        <p:nvSpPr>
          <p:cNvPr id="4" name="Body 20"/>
          <p:cNvSpPr txBox="1"/>
          <p:nvPr/>
        </p:nvSpPr>
        <p:spPr>
          <a:xfrm>
            <a:off x="731520" y="1417320"/>
            <a:ext cx="10698480" cy="4480560"/>
          </a:xfrm>
          <a:noFill/>
        </p:spPr>
        <p:txBody>
          <a:bodyPr wrap="square" rtlCol="0"/>
          <a:lstStyle/>
          <a:p>
            <a:pPr lvl="0"/>
            <a:r>
              <a:rPr lang="zh-CN" sz="2000"/>
              <a:t>• 当前 best full：84.18 / 60.75 / 49.36</a:t>
            </a:r>
            <a:endParaRPr lang="zh-CN" sz="2000"/>
          </a:p>
          <a:p>
            <a:pPr lvl="0"/>
            <a:r>
              <a:rPr lang="zh-CN" sz="2000"/>
              <a:t>• 最关键方法：no contrastive、normalized NME、hybrid、new_only ptblend、affine2</a:t>
            </a:r>
            <a:endParaRPr lang="zh-CN" sz="2000"/>
          </a:p>
          <a:p>
            <a:pPr lvl="0"/>
            <a:r>
              <a:rPr lang="zh-CN" sz="2000"/>
              <a:t>• 当前平台：task3 已逼近 49~50，单纯 replay 小改动难再明显突破</a:t>
            </a:r>
            <a:endParaRPr lang="zh-CN" sz="2000"/>
          </a:p>
          <a:p>
            <a:pPr lvl="0"/>
            <a:r>
              <a:rPr lang="zh-CN" sz="2000"/>
              <a:t>• 后续方向：更严格分析 task-conditioned 参数、prototype/refinement 更强联动、subject-invariant 约束</a:t>
            </a:r>
            <a:endParaRPr lang="zh-CN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Theme">
  <a:themeElements>
    <a:clrScheme name="Simple">
      <a:dk1>
        <a:srgbClr val="1E2A38"/>
      </a:dk1>
      <a:lt1>
        <a:srgbClr val="FFFFFF"/>
      </a:lt1>
      <a:dk2>
        <a:srgbClr val="243447"/>
      </a:dk2>
      <a:lt2>
        <a:srgbClr val="F7F9FC"/>
      </a:lt2>
      <a:accent1>
        <a:srgbClr val="2F6BFF"/>
      </a:accent1>
      <a:accent2>
        <a:srgbClr val="1FA187"/>
      </a:accent2>
      <a:accent3>
        <a:srgbClr val="F18F01"/>
      </a:accent3>
      <a:accent4>
        <a:srgbClr val="D7263D"/>
      </a:accent4>
      <a:accent5>
        <a:srgbClr val="6C5CE7"/>
      </a:accent5>
      <a:accent6>
        <a:srgbClr val="00A8E8"/>
      </a:accent6>
      <a:hlink>
        <a:srgbClr val="0563C1"/>
      </a:hlink>
      <a:folHlink>
        <a:srgbClr val="954F72"/>
      </a:folHlink>
    </a:clrScheme>
    <a:fontScheme name="Simple">
      <a:majorFont>
        <a:latin typeface="Arial"/>
      </a:majorFont>
      <a:minorFont>
        <a:latin typeface="Arial"/>
      </a:minorFont>
    </a:fontScheme>
    <a:fmtScheme name="Simpl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20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20</vt:i4>
      </vt:variant>
    </vt:vector>
  </HeadingPairs>
  <TitlesOfParts>
    <vt:vector size="20" baseType="lpstr"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iCaRL_codex 实验递进整理</dc:title>
  <dc:creator>Codex</dc:creator>
  <cp:lastModifiedBy>Codex</cp:lastModifiedBy>
  <dcterms:created xsi:type="dcterms:W3CDTF">2026-03-17T07:11:37Z</dcterms:created>
  <dcterms:modified xsi:type="dcterms:W3CDTF">2026-03-17T07:11:37Z</dcterms:modified>
</cp:coreProperties>
</file>